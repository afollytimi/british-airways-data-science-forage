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Importance</c:v>
                </c:pt>
              </c:strCache>
            </c:strRef>
          </c:tx>
          <c:spPr>
            <a:solidFill>
              <a:srgbClr val="0F1B3C"/>
            </a:solidFill>
            <a:effectLst/>
          </c:spPr>
          <c:invertIfNegative val="0"/>
          <c:dLbls>
            <c:numFmt formatCode="0%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F1B3C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F1B3C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F1B3C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F1B3C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0F1B3C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0F1B3C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0F1B3C"/>
              </a:solidFill>
              <a:effectLst/>
            </c:spPr>
          </c:dPt>
          <c:cat>
            <c:multiLvlStrRef>
              <c:f>Sheet1!$A$2:$A$7</c:f>
              <c:multiLvlStrCache>
                <c:ptCount val="6"/>
                <c:lvl>
                  <c:pt idx="0">
                    <c:v>Flight hour of day</c:v>
                  </c:pt>
                  <c:pt idx="1">
                    <c:v>Flight duration</c:v>
                  </c:pt>
                  <c:pt idx="2">
                    <c:v>Route</c:v>
                  </c:pt>
                  <c:pt idx="3">
                    <c:v>Purchase lead time</c:v>
                  </c:pt>
                  <c:pt idx="4">
                    <c:v>Length of stay</c:v>
                  </c:pt>
                  <c:pt idx="5">
                    <c:v>Booking origin (country)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0.054</c:v>
                </c:pt>
                <c:pt idx="1">
                  <c:v>0.0782</c:v>
                </c:pt>
                <c:pt idx="2">
                  <c:v>0.1103</c:v>
                </c:pt>
                <c:pt idx="3">
                  <c:v>0.1387</c:v>
                </c:pt>
                <c:pt idx="4">
                  <c:v>0.1495</c:v>
                </c:pt>
                <c:pt idx="5">
                  <c:v>0.3048</c:v>
                </c:pt>
              </c:numCache>
            </c:numRef>
          </c:val>
        </c:ser>
        <c:dLbls>
          <c:numFmt formatCode="0%" sourceLinked="0"/>
          <c:txPr>
            <a:bodyPr/>
            <a:lstStyle/>
            <a:p>
              <a:pPr>
                <a:defRPr b="0" i="0" strike="noStrike" sz="1000" u="none">
                  <a:solidFill>
                    <a:srgbClr val="0F1B3C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F1B3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0%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1B3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8778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Predicting Customer Bookings: Model Summary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778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E9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Science  |  Customer Booking Prediction  |  For: Head of Commercial Analytics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1170432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1417320"/>
            <a:ext cx="370332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spcAft>
                <a:spcPts val="800"/>
              </a:spcAft>
              <a:buNone/>
            </a:pPr>
            <a:r>
              <a:rPr lang="en-US" sz="1150" b="1" dirty="0">
                <a:solidFill>
                  <a:srgbClr val="0F1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50,000 bookings</a:t>
            </a:r>
            <a:pPr indent="0" marL="0">
              <a:lnSpc>
                <a:spcPct val="112000"/>
              </a:lnSpc>
              <a:spcAft>
                <a:spcPts val="800"/>
              </a:spcAft>
              <a:buNone/>
            </a:pPr>
            <a:r>
              <a:rPr lang="en-US" sz="1150" dirty="0">
                <a:solidFill>
                  <a:srgbClr val="0F1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were cleaned and enriched with engineered features (log-scaled lead time &amp; stay length, route/origin frequency, weekend &amp; business-hour flags, total extras requested).</a:t>
            </a:r>
            <a:endParaRPr lang="en-US" sz="1150" dirty="0"/>
          </a:p>
          <a:p>
            <a:pPr indent="0" marL="0">
              <a:lnSpc>
                <a:spcPct val="112000"/>
              </a:lnSpc>
              <a:spcAft>
                <a:spcPts val="800"/>
              </a:spcAft>
              <a:buNone/>
            </a:pPr>
            <a:r>
              <a:rPr lang="en-US" sz="1150" b="1" dirty="0">
                <a:solidFill>
                  <a:srgbClr val="0F1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Random Forest classifier</a:t>
            </a:r>
            <a:pPr indent="0" marL="0">
              <a:lnSpc>
                <a:spcPct val="112000"/>
              </a:lnSpc>
              <a:spcAft>
                <a:spcPts val="800"/>
              </a:spcAft>
              <a:buNone/>
            </a:pPr>
            <a:r>
              <a:rPr lang="en-US" sz="1150" dirty="0">
                <a:solidFill>
                  <a:srgbClr val="0F1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(300 trees, class-balanced) predicts booking_complete; performance is confirmed via 5-fold stratified cross-validation.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57200" y="3364992"/>
            <a:ext cx="1170432" cy="1051560"/>
          </a:xfrm>
          <a:prstGeom prst="roundRect">
            <a:avLst>
              <a:gd name="adj" fmla="val 6957"/>
            </a:avLst>
          </a:prstGeom>
          <a:solidFill>
            <a:srgbClr val="E9EDF7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3429000"/>
            <a:ext cx="11704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76.6%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457200" y="3922776"/>
            <a:ext cx="11704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</a:t>
            </a:r>
            <a:endParaRPr lang="en-US" sz="9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(test set)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746504" y="3364992"/>
            <a:ext cx="1170432" cy="1051560"/>
          </a:xfrm>
          <a:prstGeom prst="roundRect">
            <a:avLst>
              <a:gd name="adj" fmla="val 6957"/>
            </a:avLst>
          </a:prstGeom>
          <a:solidFill>
            <a:srgbClr val="E9EDF7"/>
          </a:solidFill>
          <a:ln/>
        </p:spPr>
      </p:sp>
      <p:sp>
        <p:nvSpPr>
          <p:cNvPr id="11" name="Text 9"/>
          <p:cNvSpPr/>
          <p:nvPr/>
        </p:nvSpPr>
        <p:spPr>
          <a:xfrm>
            <a:off x="1746504" y="3429000"/>
            <a:ext cx="11704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63.4%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746504" y="3922776"/>
            <a:ext cx="11704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 on true</a:t>
            </a:r>
            <a:endParaRPr lang="en-US" sz="9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bookers (test)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035808" y="3364992"/>
            <a:ext cx="1170432" cy="1051560"/>
          </a:xfrm>
          <a:prstGeom prst="roundRect">
            <a:avLst>
              <a:gd name="adj" fmla="val 6957"/>
            </a:avLst>
          </a:prstGeom>
          <a:solidFill>
            <a:srgbClr val="E9EDF7"/>
          </a:solidFill>
          <a:ln/>
        </p:spPr>
      </p:sp>
      <p:sp>
        <p:nvSpPr>
          <p:cNvPr id="14" name="Text 12"/>
          <p:cNvSpPr/>
          <p:nvPr/>
        </p:nvSpPr>
        <p:spPr>
          <a:xfrm>
            <a:off x="3035808" y="3429000"/>
            <a:ext cx="11704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73.3%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035808" y="3922776"/>
            <a:ext cx="11704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accuracy</a:t>
            </a:r>
            <a:endParaRPr lang="en-US" sz="9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(test set)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57200" y="4645152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57200" y="4937760"/>
            <a:ext cx="37033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0F1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 origin and route are by far the strongest predictors — where a customer is booking from matters more than what they book. Trip-planning behaviour (how far ahead, how long the stay) is the next strongest signal. Recommendation: prioritise origin-market targeting and early-lead-time offers in acquisition campaigns; treat this model as a starting point — recall on true bookers (63%) leaves room for improvement with richer customer-history features.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434840" y="1170432"/>
            <a:ext cx="7269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DRIVES A COMPLETED BOOKING?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434840" y="1417320"/>
            <a:ext cx="7269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feature importance (grouped by business concept)</a:t>
            </a:r>
            <a:endParaRPr lang="en-US" sz="1050" dirty="0"/>
          </a:p>
        </p:txBody>
      </p:sp>
      <p:graphicFrame>
        <p:nvGraphicFramePr>
          <p:cNvPr id="20" name="Chart 0" descr=""/>
          <p:cNvGraphicFramePr/>
          <p:nvPr/>
        </p:nvGraphicFramePr>
        <p:xfrm>
          <a:off x="4434840" y="1737360"/>
          <a:ext cx="7269480" cy="2788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1" name="Shape 18"/>
          <p:cNvSpPr/>
          <p:nvPr/>
        </p:nvSpPr>
        <p:spPr>
          <a:xfrm>
            <a:off x="4434840" y="4590288"/>
            <a:ext cx="7269480" cy="566928"/>
          </a:xfrm>
          <a:prstGeom prst="roundRect">
            <a:avLst>
              <a:gd name="adj" fmla="val 9677"/>
            </a:avLst>
          </a:prstGeom>
          <a:solidFill>
            <a:srgbClr val="E9EDF7"/>
          </a:solidFill>
          <a:ln/>
        </p:spPr>
      </p:sp>
      <p:sp>
        <p:nvSpPr>
          <p:cNvPr id="22" name="Text 19"/>
          <p:cNvSpPr/>
          <p:nvPr/>
        </p:nvSpPr>
        <p:spPr>
          <a:xfrm>
            <a:off x="4572000" y="4590288"/>
            <a:ext cx="6995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 market alone explains ~30% </a:t>
            </a:r>
            <a:pPr indent="0" marL="0">
              <a:buNone/>
            </a:pPr>
            <a:r>
              <a:rPr lang="en-US" sz="1150" dirty="0">
                <a:solidFill>
                  <a:srgbClr val="0F1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the model's predictive power — nearly 3× the next strongest driver.</a:t>
            </a:r>
            <a:endParaRPr lang="en-US" sz="1150" dirty="0"/>
          </a:p>
        </p:txBody>
      </p:sp>
      <p:sp>
        <p:nvSpPr>
          <p:cNvPr id="23" name="Text 20"/>
          <p:cNvSpPr/>
          <p:nvPr/>
        </p:nvSpPr>
        <p:spPr>
          <a:xfrm>
            <a:off x="4434840" y="5285232"/>
            <a:ext cx="7269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Confusion matrix (test set, n=10,000)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5440680" y="5522976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Pred: No booking</a:t>
            </a:r>
            <a:endParaRPr lang="en-US" sz="950" dirty="0"/>
          </a:p>
        </p:txBody>
      </p:sp>
      <p:sp>
        <p:nvSpPr>
          <p:cNvPr id="25" name="Text 22"/>
          <p:cNvSpPr/>
          <p:nvPr/>
        </p:nvSpPr>
        <p:spPr>
          <a:xfrm>
            <a:off x="6858000" y="5522976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Pred: Booking</a:t>
            </a:r>
            <a:endParaRPr lang="en-US" sz="950" dirty="0"/>
          </a:p>
        </p:txBody>
      </p:sp>
      <p:sp>
        <p:nvSpPr>
          <p:cNvPr id="26" name="Text 23"/>
          <p:cNvSpPr/>
          <p:nvPr/>
        </p:nvSpPr>
        <p:spPr>
          <a:xfrm>
            <a:off x="4434840" y="5779008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Actual: No booking</a:t>
            </a:r>
            <a:endParaRPr lang="en-US" sz="950" dirty="0"/>
          </a:p>
        </p:txBody>
      </p:sp>
      <p:sp>
        <p:nvSpPr>
          <p:cNvPr id="27" name="Shape 24"/>
          <p:cNvSpPr/>
          <p:nvPr/>
        </p:nvSpPr>
        <p:spPr>
          <a:xfrm>
            <a:off x="5440680" y="5779008"/>
            <a:ext cx="1371600" cy="301752"/>
          </a:xfrm>
          <a:prstGeom prst="rect">
            <a:avLst/>
          </a:prstGeom>
          <a:solidFill>
            <a:srgbClr val="0F1B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440680" y="5779008"/>
            <a:ext cx="1371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6378</a:t>
            </a:r>
            <a:endParaRPr lang="en-US" sz="1200" dirty="0"/>
          </a:p>
        </p:txBody>
      </p:sp>
      <p:sp>
        <p:nvSpPr>
          <p:cNvPr id="29" name="Shape 26"/>
          <p:cNvSpPr/>
          <p:nvPr/>
        </p:nvSpPr>
        <p:spPr>
          <a:xfrm>
            <a:off x="6858000" y="5779008"/>
            <a:ext cx="1371600" cy="301752"/>
          </a:xfrm>
          <a:prstGeom prst="rect">
            <a:avLst/>
          </a:prstGeom>
          <a:solidFill>
            <a:srgbClr val="E9EDF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858000" y="5779008"/>
            <a:ext cx="1371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2126</a:t>
            </a:r>
            <a:endParaRPr lang="en-US" sz="1200" dirty="0"/>
          </a:p>
        </p:txBody>
      </p:sp>
      <p:sp>
        <p:nvSpPr>
          <p:cNvPr id="31" name="Text 28"/>
          <p:cNvSpPr/>
          <p:nvPr/>
        </p:nvSpPr>
        <p:spPr>
          <a:xfrm>
            <a:off x="4434840" y="6126480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Actual: Booking</a:t>
            </a:r>
            <a:endParaRPr lang="en-US" sz="950" dirty="0"/>
          </a:p>
        </p:txBody>
      </p:sp>
      <p:sp>
        <p:nvSpPr>
          <p:cNvPr id="32" name="Shape 29"/>
          <p:cNvSpPr/>
          <p:nvPr/>
        </p:nvSpPr>
        <p:spPr>
          <a:xfrm>
            <a:off x="5440680" y="6126480"/>
            <a:ext cx="1371600" cy="301752"/>
          </a:xfrm>
          <a:prstGeom prst="rect">
            <a:avLst/>
          </a:prstGeom>
          <a:solidFill>
            <a:srgbClr val="E9EDF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5440680" y="6126480"/>
            <a:ext cx="1371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548</a:t>
            </a:r>
            <a:endParaRPr lang="en-US" sz="1200" dirty="0"/>
          </a:p>
        </p:txBody>
      </p:sp>
      <p:sp>
        <p:nvSpPr>
          <p:cNvPr id="34" name="Shape 31"/>
          <p:cNvSpPr/>
          <p:nvPr/>
        </p:nvSpPr>
        <p:spPr>
          <a:xfrm>
            <a:off x="6858000" y="6126480"/>
            <a:ext cx="1371600" cy="301752"/>
          </a:xfrm>
          <a:prstGeom prst="rect">
            <a:avLst/>
          </a:prstGeom>
          <a:solidFill>
            <a:srgbClr val="0F1B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6858000" y="6126480"/>
            <a:ext cx="1371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948</a:t>
            </a:r>
            <a:endParaRPr lang="en-US" sz="1200" dirty="0"/>
          </a:p>
        </p:txBody>
      </p:sp>
      <p:sp>
        <p:nvSpPr>
          <p:cNvPr id="36" name="Text 33"/>
          <p:cNvSpPr/>
          <p:nvPr/>
        </p:nvSpPr>
        <p:spPr>
          <a:xfrm>
            <a:off x="4572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British Airways – Data Science Job Simulation (Forage) – Task 2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2026-07-31T19:37:37Z</dcterms:created>
  <dcterms:modified xsi:type="dcterms:W3CDTF">2026-07-31T19:37:37Z</dcterms:modified>
</cp:coreProperties>
</file>